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532BA-3FC3-416B-B456-91B3F979C1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8D5510-D84E-4F84-ACF4-B5E219E24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34A8B-BE44-4A06-94EC-565C1BFFC1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815CE2-C307-44CD-A4DC-9F7B0E4C1FC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71160"/>
            <a:ext cx="9071640" cy="13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МИНОБРНАУКИ РОССИИ 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Федеральное государственное бюджетное образовательное учреждение высшего образования </a:t>
            </a:r>
            <a:br>
              <a:rPr sz="1400"/>
            </a:b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«САРАТОВСКИЙ НАЦИОНАЛЬНЫЙ ИССЛЕДОВАТЕЛЬСКИЙ ГОСУДАРСТВЕННЫЙ УНИВЕРСИТЕТ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 ИМЕНИ Н.Г. ЧЕРНЫШЕВСКОГО» 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 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Кафедра дискретной математики и информационных технологий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40000" y="851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РАЗРАБОТКА МЕТОДИКИ ИССЛЕДОВАНИЯ СООТВЕТСТВИЯ ОС LINUX ЗАДАЧАМ РЕАЛЬНОГО ВРЕМЕНИ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КУРСОВАЯ РАБОТА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00000" y="3240000"/>
            <a:ext cx="558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студента 3 курса 321 группы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направления 09.03.01 — Информатика и вычислительная техника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факультета КНиИТ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Номеровского Максима Сергеевича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Заголовок 1"/>
          <p:cNvSpPr/>
          <p:nvPr/>
        </p:nvSpPr>
        <p:spPr>
          <a:xfrm>
            <a:off x="900000" y="4536360"/>
            <a:ext cx="712836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Научный руководитель</a:t>
            </a:r>
            <a:br>
              <a:rPr sz="1400"/>
            </a:b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ст. преподаватель 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       Н.Е Тимофеева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Цель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Разработка методики исследования соответствия операционной системы Linux задачам реального времени на конкретной аппаратной платформе и проведения сравнительного анализа при использовании ядра с активированным параметром PREEMPT_RT и без него для решения простейших задач реального времени.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04000" y="17053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Задачи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04000" y="2651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Выбрать и изучить аппаратную платформу, на которой будет проверяться и тестироваться методика.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Выполнить кросс-компиляцию ядра Linux с параметрами, удовлетворяющими техническим требованиям выбранной аппаратной платформы, в двух конфигурациях (с поддержкой реального времени и без нее).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Подготовить загрузочный образ системы, включающий загрузчик U-Boot, скомпилированное ядро, дерево устройств и корневую файловую систему.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Разработать программно-аппаратный комплекс для генерации тестовых импульсов, фиксации задержек отклика и автоматизированного сбора статистики.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Собрать тестовый стенд и провести серию аппаратных и программных измерений метрик реального времени в различных конфигурациях, в том числе с имитацией сторонней нагрузки на процессор.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0C0F2FDD-C0C8-4D07-B81C-FE889E81A3CF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F162D9BA-C6F7-48FE-BF46-8FB20633F2FC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Используемое ПО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B4F829B1-BF80-4FCB-9FCD-571E106846D2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5B641E99-59FC-4944-A4B8-F50B7D4461BB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504000" y="2111760"/>
            <a:ext cx="2196000" cy="149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"/>
          <p:cNvPicPr/>
          <p:nvPr/>
        </p:nvPicPr>
        <p:blipFill>
          <a:blip r:embed="rId2"/>
          <a:stretch/>
        </p:blipFill>
        <p:spPr>
          <a:xfrm>
            <a:off x="4303440" y="1980000"/>
            <a:ext cx="1456560" cy="172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3"/>
          <a:stretch/>
        </p:blipFill>
        <p:spPr>
          <a:xfrm>
            <a:off x="7007400" y="2019600"/>
            <a:ext cx="1452600" cy="176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Компоненты приложения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Генератор меандра для платформы Arduino.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Программа-обработчик входящих импульсов.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Программа сбора и анализа данных на ПК.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5AD85B07-48EE-4E8C-B9DD-E468DD26B07E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89CF8139-4F87-4487-A129-CD79AA5DBFA9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Принцип работы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3BC96F4A-C6E5-4333-A4E2-414EA0D53A36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3DE056BC-F986-4689-B580-CD74E201A689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2041560" y="1085040"/>
            <a:ext cx="5698440" cy="413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Анализируемые конфигурации системы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 с наивысшим приоритетом у программы-ответчика.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 с наивысшим приоритетом у программы-ответчика.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8942F61D-ECFF-4C0B-A4C7-61E071B76B2D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FD87A10D-4113-49DC-BB41-518C38DB1991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аппаратных замеров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2442240" y="2166120"/>
            <a:ext cx="5227920" cy="14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9360000" y="54000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A846951E-C909-4ED6-BBB7-2CB3E019AB57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9E5CAF70-7047-4E7A-8A07-FC5D564F835D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Анализируемые конфигурации системы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 с утилитой stress.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 с наивысшим приоритетом у программы-ответчика.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без параметра PREEMPT_RT с наивысшим приоритетом у программы-ответчика с утилитой stress.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 с утилитой stress.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 с наивысшим приоритетом у программы-ответчика.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 использованием ядра Linux с параметром PREEMPT_RT с наивысшим приоритетом у программы-ответчика с утилитой stress.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360000" y="53640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E5DCB866-103D-481C-B480-A09AC54592E7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231B3446-AFBE-441A-98EB-98BC93E87D16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программных замеров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36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7714B877-9F27-44C7-B7D3-B42C151CB683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A001784A-2177-41E1-9D0C-B1FCE443DB3A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360000" y="1800000"/>
            <a:ext cx="4509000" cy="225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2"/>
          <a:stretch/>
        </p:blipFill>
        <p:spPr>
          <a:xfrm>
            <a:off x="5220000" y="1800000"/>
            <a:ext cx="4500000" cy="224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Результаты исследования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Осуществлена кросс-компиляция двух версий ядра Linux (стандартной и с интегрированным параметром PREEMPT_RT).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Подготовлен загрузочный образ операционной системы, включающий системный загрузчик U-Boot и корневую файловую систему.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Спроектирован и собран специализированный аппаратно-программный стенд с использованием микроконтроллера Arduino для высокоточной генерации тестовых импульсов и фиксации задержек отклика.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Было установлено, что наличие патча PREEMPT_RT не увеличивает среднюю пропускную способность системы; напротив, из-за дополнительных накладных расходов на переключение контекста средняя длительность задержки может возрастать.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Экспериментально доказано, что при жестком распределении приоритетов в режиме SCHED_FIFO ядро реального времени эффективно изолирует процессы от фоновой нагрузки. В условиях стресс-тестирования конфигурация с PREEMPT_RT показала значительное преимущество над стандартным ядром Linux.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18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B823392B-6F9A-447B-B858-AD1F01BC17A4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BE124D6D-F0C7-455D-B44C-D7B6973A7832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Список источников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080000"/>
            <a:ext cx="907164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Qing Li, Caroline Yao. Real-time concepts for embedded system - CMP Books, 2003. - 320 с.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Linux Kernel documentation [Электронный ресурс] URL: https://docs.kernel.org/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 Babamir. Real-Time Systems, Architecture, Scheduling, and Application - INTECH, 2012. - 352 с.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Симмондс К. Встраиваемые системы на основе linux - ДМК Пресс, 2017. - 360с.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Devicetree documentation [Электронный ресурс] URL: https://docs.kernel.org/devicetree/usage-model.html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 documentation [Электронный ресурс] URL: https://docs.u-boot.org/en/latest/ (дата обращения: 19.05.2026)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MangoPi MQ Pro documentation [Электронный ресурс] URL: https://mangopi.org/mangopi_mqpro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Arduino documentation [Электронный ресурс] URL: https://docs.arduino.cc/ (дата обращения: 19.05.2026)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AltLinux kernel source [Электронный ресурс] URL: https://git.altlinux.org/gears/k/kernel-source-6.16.git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 documentation [Электронный ресурс] URL: https://git-scm.com/docs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William Shotts. The Linux Command Line - No Starch Press, 2026. - 544 с.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PREEMPT_RT setup guide [Электронный ресурс] </a:t>
            </a:r>
            <a:br>
              <a:rPr sz="3200"/>
            </a:b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URL: https://wiki.linuxfoundation.org/realtime/documentation/howto/applications/preemptrt_setup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AltLinux U-Boot source [Электронный ресурс] </a:t>
            </a:r>
            <a:br>
              <a:rPr sz="3200"/>
            </a:b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URL: https://packages.altlinux.org/ru/sisyphus_riscv64/binary/u-boot-sunxi-riscv/noarch/3229656311355752582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AltLinux rootfs source [Электронный ресурс] URL: https://en.altlinux.org/Regular/riscv64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dd utility manual page [Электронный ресурс] URL: https://man7.org/linux/man-pages/man1/dd.1.html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fdisk manual page [Электронный ресурс] URL: https://man7.org/linux/man-pages/man8/fdisk.8.html (дата обращения: 27.04.2026)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FAT filesystem documentation [Электронный ресурс] URL: https://docs.kernel.org/filesystems/vfat.html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Ext4 filesystem documentation [Электронный ресурс] URL: https://docs.kernel.org/filesystems/ext4/index.html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libgpio documentation [Электронный ресурс] URL: https://libgpiod.readthedocs.io/en/master/ (дата обращения: 27.04.2026)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stress utility manual page [Электронный ресурс] URL: https://linux.die.net/man/1/stress (дата обращения: 19.05.2026)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18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9EE0E73B-81A9-4C04-B926-47985A7D165C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36CB8B6E-3973-4B39-B8AC-46A04E3DE4D5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68360" y="234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Спасибо за внимание!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180000" y="5333400"/>
            <a:ext cx="3420000" cy="336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83249CE6-57E6-42BF-B906-0F72CAD6727D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/12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0" y="5355720"/>
            <a:ext cx="5400000" cy="764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A0D5A4DD-3487-47FD-8110-B648B8148FC8}" type="author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fld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Номеровский Максим Сергеевич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2026-05-25T17:53:17Z</dcterms:created>
  <dc:creator/>
  <dc:description/>
  <dc:language>ru-RU</dc:language>
  <cp:lastModifiedBy/>
  <cp:lastPrinted>2026-05-25T20:36:39Z</cp:lastPrinted>
  <dcterms:modified xsi:type="dcterms:W3CDTF">2026-05-25T20:44:34Z</dcterms:modified>
  <cp:revision>13</cp:revision>
  <dc:subject/>
  <dc:title/>
</cp:coreProperties>
</file>